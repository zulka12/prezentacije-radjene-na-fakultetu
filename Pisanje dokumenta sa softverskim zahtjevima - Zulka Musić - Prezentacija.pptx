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 noProof="0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s-Latn-BA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s-Latn-BA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bs-Latn-BA" noProof="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s-Latn-B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bs-Latn-BA" sz="32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Pisanje dokumenta sa softverskim zahtjevima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770268"/>
          </a:xfrm>
        </p:spPr>
        <p:txBody>
          <a:bodyPr>
            <a:normAutofit/>
          </a:bodyPr>
          <a:lstStyle/>
          <a:p>
            <a:pPr algn="ctr"/>
            <a:r>
              <a:rPr lang="bs-Latn-BA" noProof="0" dirty="0">
                <a:solidFill>
                  <a:srgbClr val="7CEB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Zulka </a:t>
            </a:r>
            <a:r>
              <a:rPr lang="bs-Latn-BA" noProof="0" dirty="0" err="1">
                <a:solidFill>
                  <a:srgbClr val="7CEB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musić</a:t>
            </a:r>
            <a:endParaRPr lang="bs-Latn-BA" noProof="0" dirty="0">
              <a:solidFill>
                <a:srgbClr val="7CEB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bs-Latn-BA" noProof="0" dirty="0">
                <a:solidFill>
                  <a:srgbClr val="7CEB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Travnik, 2026.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BC9E-659D-3E37-BA8A-53827960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bs-Latn-BA" noProof="0" dirty="0"/>
              <a:t>uvod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D25275-24E4-197C-D28A-322B51880A8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1192" y="2228003"/>
            <a:ext cx="6429207" cy="436874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Ciljevi rada: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Prikaz značaja pravilnog pisanja SRS dokumenta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Objašnjenje vrsta softverskih zahtjeva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Prikaz metoda prikupljanja zahtjeva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Praktični primjer pisanja zahtjeva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FC7CB-2E8E-944C-0DB5-0BC046FE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65" t="2211" r="31385" b="3562"/>
          <a:stretch>
            <a:fillRect/>
          </a:stretch>
        </p:blipFill>
        <p:spPr>
          <a:xfrm>
            <a:off x="7214839" y="2308302"/>
            <a:ext cx="3378820" cy="342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1161690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E7D2-64DE-92F5-1192-61BAD7F0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PRIMJENA SRS DOKUMENTA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096F6F-3113-1AC9-7DBF-F80ADB1CF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3050153"/>
            <a:ext cx="110296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SRS dokument predstavlja centralni dokument projekta i koristi se tokom cijelog životnog ciklusa softvera.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Osnova za dizajn i implementaciju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Osnova za testiranje softvera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Formalni dogovor korisnika i razvojnog tima</a:t>
            </a:r>
          </a:p>
        </p:txBody>
      </p:sp>
    </p:spTree>
    <p:extLst>
      <p:ext uri="{BB962C8B-B14F-4D97-AF65-F5344CB8AC3E}">
        <p14:creationId xmlns:p14="http://schemas.microsoft.com/office/powerpoint/2010/main" val="3795466925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54AA-13AD-D015-1F41-784B4B14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bs-Latn-BA" noProof="0" dirty="0"/>
              <a:t>HISTORIJAT PISANJA SOFTVERSKIH ZAHTJEVA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47BF60-419C-0A49-2492-F8D4EF02B8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713" t="32994" r="9759" b="32419"/>
          <a:stretch>
            <a:fillRect/>
          </a:stretch>
        </p:blipFill>
        <p:spPr bwMode="auto">
          <a:xfrm>
            <a:off x="581193" y="4490750"/>
            <a:ext cx="11029615" cy="207333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5B9593A0-B794-5652-BEA4-00976D4D4D2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1193" y="2921089"/>
            <a:ext cx="110296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Razvojem složenih softverskih sistema pojavila se potreba za formalnim i standardizovanim pisanjem zahtjeva.</a:t>
            </a:r>
            <a:endParaRPr kumimoji="0" lang="bs-Latn-BA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369063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D4ABE-FF7D-633A-A343-E997DF4D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OSNOVNI POJMOVI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A6BD4-1D92-018B-36CC-EFA6342C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9853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Softverski zahtjev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Definisana potreba ili uslov koji softver mora ispuniti.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Funkcionalni zahtjevi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Opisuju koje funkcije i usluge sistem mora pružiti.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Nefunkcionalni zahtjevi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Opisuju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kvalitet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rada sistema - brzinu, sigurnost, pouzdanost.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Korisnički i sistemski zahtjevi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Korisnički su opisani jednostavno za korisnike, a sistemski tehnički detaljno za razvoj.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SRS dokument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Dokument koji sadrži sve softverske zahtjeve sistema.</a:t>
            </a:r>
          </a:p>
        </p:txBody>
      </p:sp>
    </p:spTree>
    <p:extLst>
      <p:ext uri="{BB962C8B-B14F-4D97-AF65-F5344CB8AC3E}">
        <p14:creationId xmlns:p14="http://schemas.microsoft.com/office/powerpoint/2010/main" val="4242176212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C825-A0C6-80B3-CEB2-91FF77B2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METODE I ALATI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CC49-4122-0FB4-621D-D59A95A17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Intervjui i ankete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Koriste se za prikupljanje zahtjeva direktno od korisnika.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Radionice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Zajednički sastanci korisnika i tima radi definisanja zahtjeva.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dijagrami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Grafički prikaz strukture i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ponašanja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sistema.</a:t>
            </a:r>
          </a:p>
          <a:p>
            <a:pPr>
              <a:buClr>
                <a:schemeClr val="tx1"/>
              </a:buClr>
            </a:pPr>
            <a:r>
              <a:rPr lang="bs-Latn-BA" sz="2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Softverski alati za upravljanje zahtjevima 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Alati za evidenciju,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izmjene softverskih zahtjeva.</a:t>
            </a:r>
          </a:p>
        </p:txBody>
      </p:sp>
    </p:spTree>
    <p:extLst>
      <p:ext uri="{BB962C8B-B14F-4D97-AF65-F5344CB8AC3E}">
        <p14:creationId xmlns:p14="http://schemas.microsoft.com/office/powerpoint/2010/main" val="3844689915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CAC3-B432-5CBC-7328-2618AE84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VLASTITI PRIMJER I EKSPERIMENT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80EA0-0098-C5BB-CD10-D66CF054F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Eksperiment je proveden na primjeru web aplikacije za prijavu ispita. Cilj je bio da se prikaže razlika između neformalno i formalno definisanih softverskih zahtjeva.</a:t>
            </a:r>
          </a:p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prvoj fazi zahtjevi su prikupljeni neformalno, kroz razgovore sa korisnicima, bez jasne strukture, što je dovelo do nejasnoća i različitih tumačenja.</a:t>
            </a:r>
          </a:p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drugoj fazi izrađen je SRS dokument sa jasno definisanim i strukturiranim zahtjevima, što je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olakšalo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razvoj i razumijevanje sistema.</a:t>
            </a:r>
          </a:p>
        </p:txBody>
      </p:sp>
    </p:spTree>
    <p:extLst>
      <p:ext uri="{BB962C8B-B14F-4D97-AF65-F5344CB8AC3E}">
        <p14:creationId xmlns:p14="http://schemas.microsoft.com/office/powerpoint/2010/main" val="1356844222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0C3E-6D98-34C1-FC07-9A685578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Formalni i neformalni zahtjevi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404A48-73AE-E43A-C43B-BD4802BE75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660328"/>
              </p:ext>
            </p:extLst>
          </p:nvPr>
        </p:nvGraphicFramePr>
        <p:xfrm>
          <a:off x="581194" y="1885790"/>
          <a:ext cx="11029614" cy="4270054"/>
        </p:xfrm>
        <a:graphic>
          <a:graphicData uri="http://schemas.openxmlformats.org/drawingml/2006/table">
            <a:tbl>
              <a:tblPr/>
              <a:tblGrid>
                <a:gridCol w="3676538">
                  <a:extLst>
                    <a:ext uri="{9D8B030D-6E8A-4147-A177-3AD203B41FA5}">
                      <a16:colId xmlns:a16="http://schemas.microsoft.com/office/drawing/2014/main" val="950555225"/>
                    </a:ext>
                  </a:extLst>
                </a:gridCol>
                <a:gridCol w="3676538">
                  <a:extLst>
                    <a:ext uri="{9D8B030D-6E8A-4147-A177-3AD203B41FA5}">
                      <a16:colId xmlns:a16="http://schemas.microsoft.com/office/drawing/2014/main" val="238750517"/>
                    </a:ext>
                  </a:extLst>
                </a:gridCol>
                <a:gridCol w="3676538">
                  <a:extLst>
                    <a:ext uri="{9D8B030D-6E8A-4147-A177-3AD203B41FA5}">
                      <a16:colId xmlns:a16="http://schemas.microsoft.com/office/drawing/2014/main" val="4253774521"/>
                    </a:ext>
                  </a:extLst>
                </a:gridCol>
              </a:tblGrid>
              <a:tr h="282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b="1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Oznaka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b="1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Vrsta zahtjeva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b="1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Opis zahtjeva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980796"/>
                  </a:ext>
                </a:extLst>
              </a:tr>
              <a:tr h="49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NZ-01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treba moći prijaviti ispit.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924035"/>
                  </a:ext>
                </a:extLst>
              </a:tr>
              <a:tr h="49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NZ-02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 treba biti jednostavan za korištenje.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528786"/>
                  </a:ext>
                </a:extLst>
              </a:tr>
              <a:tr h="49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NZ-03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Profesor treba vidjeti prijave.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932112"/>
                  </a:ext>
                </a:extLst>
              </a:tr>
              <a:tr h="70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FZ-01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 mora </a:t>
                      </a:r>
                      <a:r>
                        <a:rPr lang="bs-Latn-BA" sz="16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omogućiti</a:t>
                      </a: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studentu prijavu ispita putem korisničkog naloga, uz automatsku potvrdu uspješne prijave.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62376"/>
                  </a:ext>
                </a:extLst>
              </a:tr>
              <a:tr h="70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FZ-02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 mora prikazati profesoru listu prijavljenih studenata, uključujući ime, prezime i datum prijave.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223877"/>
                  </a:ext>
                </a:extLst>
              </a:tr>
              <a:tr h="49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FZ-03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Formalni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s-Latn-BA" sz="16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 mora obraditi zahtjev za prijavu ispita u roku kraćem od dvije sekunde.</a:t>
                      </a:r>
                    </a:p>
                  </a:txBody>
                  <a:tcPr marL="70735" marR="70735" marT="35368" marB="353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17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984409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BEE8-3135-866B-3CEC-BD474161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REZULTATI EKSPERIMENTA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91C7A-C637-E5DE-582C-45C6F372A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38018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Rezultati eksperimenta pokazali su da formalno definisani softverski zahtjevi značajno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poboljšavaju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kvalitet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razvoja softverskog sistema. Smanjen je broj nejasnoća, olakšano je testiranje funkcionalnosti, a komunikacija između korisnika i razvojnog tima bila je efikasnija.</a:t>
            </a:r>
          </a:p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Formalni zahtjevi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omogućavaju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jasno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praćenje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realizacije sistema, lakše uočavanje grešaka i jednostavnije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održavanje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softvera. Eksperiment potvrđuje da pravilno pisan SRS dokument ima ključnu ulogu u uspješnosti softverskog projekta.</a:t>
            </a:r>
          </a:p>
          <a:p>
            <a:pPr>
              <a:buClr>
                <a:schemeClr val="tx1"/>
              </a:buClr>
            </a:pP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Eksperiment je sproveden na hipotetičkom primjeru i nije uključivao stvarni razvoj softverskog sistema. Eksperiment je osmišljen kao simulacija realnog softverskog projekta, čime se </a:t>
            </a:r>
            <a:r>
              <a:rPr lang="bs-Latn-BA" sz="24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</a:t>
            </a:r>
            <a:r>
              <a:rPr lang="bs-Latn-BA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praktična primjena teorijskih znanja iz oblasti prikupljanja i pisanja softverskih zahtjeva.</a:t>
            </a:r>
          </a:p>
        </p:txBody>
      </p:sp>
    </p:spTree>
    <p:extLst>
      <p:ext uri="{BB962C8B-B14F-4D97-AF65-F5344CB8AC3E}">
        <p14:creationId xmlns:p14="http://schemas.microsoft.com/office/powerpoint/2010/main" val="1110853556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8406-A8E0-FF56-D722-012624F7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ZAKLJUČAK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CD7B73-D475-FF2D-4E07-6BFE4E47E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419483"/>
            <a:ext cx="68816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Softverski zahtjevi su temelj projekta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Kvalitetna dokumentacija </a:t>
            </a:r>
            <a:r>
              <a:rPr kumimoji="0" lang="bs-Latn-BA" sz="24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povećava</a:t>
            </a: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uspješnost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Pravilno pisanje zahtjeva je ključno</a:t>
            </a:r>
          </a:p>
        </p:txBody>
      </p:sp>
    </p:spTree>
    <p:extLst>
      <p:ext uri="{BB962C8B-B14F-4D97-AF65-F5344CB8AC3E}">
        <p14:creationId xmlns:p14="http://schemas.microsoft.com/office/powerpoint/2010/main" val="3824961603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2ADA-6F2A-EAB6-A488-02F65C2A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697583"/>
            <a:ext cx="11029615" cy="731417"/>
          </a:xfrm>
        </p:spPr>
        <p:txBody>
          <a:bodyPr anchor="b">
            <a:normAutofit/>
          </a:bodyPr>
          <a:lstStyle/>
          <a:p>
            <a:pPr algn="ctr"/>
            <a:r>
              <a:rPr lang="bs-Latn-B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HVALA NA PAŽNJI!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32400"/>
      </p:ext>
    </p:ext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80</TotalTime>
  <Words>498</Words>
  <Application>Microsoft Office PowerPoint</Application>
  <PresentationFormat>Widescreen</PresentationFormat>
  <Paragraphs>63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Gill Sans MT</vt:lpstr>
      <vt:lpstr>Wingdings 2</vt:lpstr>
      <vt:lpstr>Custom</vt:lpstr>
      <vt:lpstr>Pisanje dokumenta sa softverskim zahtjevima</vt:lpstr>
      <vt:lpstr>uvod</vt:lpstr>
      <vt:lpstr>PRIMJENA SRS DOKUMENTA</vt:lpstr>
      <vt:lpstr>HISTORIJAT PISANJA SOFTVERSKIH ZAHTJEVA</vt:lpstr>
      <vt:lpstr>OSNOVNI POJMOVI</vt:lpstr>
      <vt:lpstr>METODE I ALATI</vt:lpstr>
      <vt:lpstr>VLASTITI PRIMJER I EKSPERIMENT</vt:lpstr>
      <vt:lpstr>Formalni i neformalni zahtjevi</vt:lpstr>
      <vt:lpstr>REZULTATI EKSPERIMENTA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Zulka Musić</dc:creator>
  <cp:lastModifiedBy>Zulka Musić</cp:lastModifiedBy>
  <cp:revision>1</cp:revision>
  <dcterms:created xsi:type="dcterms:W3CDTF">2026-02-10T22:07:32Z</dcterms:created>
  <dcterms:modified xsi:type="dcterms:W3CDTF">2026-02-10T23:27:59Z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